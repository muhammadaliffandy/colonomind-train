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ColonoMind System Architecture &amp; Results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Adaptive Ensemble &amp; Unified Dataset Backbone</a:t>
            </a:r>
          </a:p>
          <a:p>
            <a:r>
              <a:t>August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System Architecture Overview</a:t>
            </a:r>
          </a:p>
        </p:txBody>
      </p:sp>
      <p:pic>
        <p:nvPicPr>
          <p:cNvPr id="3" name="Picture 2" descr="colonomind_architecture_bw_final_17864593596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Unified Dataset Backbone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The system is now powered by a 'Unified' training scenario.</a:t>
            </a:r>
          </a:p>
          <a:p>
            <a:pPr lvl="1"/>
            <a:r>
              <a:t>Combines 3 Massive Datasets:</a:t>
            </a:r>
          </a:p>
          <a:p>
            <a:pPr lvl="2"/>
            <a:r>
              <a:t>TMC-UCM, NTUH, and LIMUC</a:t>
            </a:r>
          </a:p>
          <a:p>
            <a:pPr lvl="1"/>
            <a:r>
              <a:t>Advantages:</a:t>
            </a:r>
          </a:p>
          <a:p>
            <a:pPr lvl="2"/>
            <a:r>
              <a:t>Increases generalization across different patient demographics and camera hardware.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Smart Ensemble &amp; Decision Logic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Multi-Model Fusion:</a:t>
            </a:r>
          </a:p>
          <a:p>
            <a:pPr lvl="1"/>
            <a:r>
              <a:t>Uses 5 distinct deep learning models (ResNet, DenseNet, EfficientNet, ConvNeXt, ViT) alongside LightGBM.</a:t>
            </a:r>
          </a:p>
          <a:p>
            <a:pPr/>
            <a:r>
              <a:t>Majority Voting &amp; Average Probability:</a:t>
            </a:r>
          </a:p>
          <a:p>
            <a:pPr lvl="1"/>
            <a:r>
              <a:t>Final consensus requires at least 3 out of 5 models to agree on the severity score.</a:t>
            </a:r>
          </a:p>
          <a:p>
            <a:pPr/>
            <a:r>
              <a:t>Fallback Most-Severe MES Rules:</a:t>
            </a:r>
          </a:p>
          <a:p>
            <a:pPr lvl="1"/>
            <a:r>
              <a:t>When models deeply disagree (Consensus &lt; Threshold), the system prioritizes patient safety by highlighting the Most-Severe prediction.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Experimental Results: Intra TMC-UCM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5657"/>
                <a:gridCol w="1175657"/>
                <a:gridCol w="1175657"/>
                <a:gridCol w="1175657"/>
                <a:gridCol w="1175657"/>
                <a:gridCol w="1175657"/>
                <a:gridCol w="1175658"/>
              </a:tblGrid>
              <a:tr h="2286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Base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Hyb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Prec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QWK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EfficientNet-B4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79.44%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78.47%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77.20%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76.07%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76.32%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0.9018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ResNet-50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81.79%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80.57%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79.82%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79.13%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79.42%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0.9051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ViT-B-16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79.84%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75.02%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74.58%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74.15%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74.32%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0.8476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ConvNeXt-Tiny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80.35%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78.53%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77.89%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76.66%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77.19%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0.8899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DenseNet-121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79.63%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75.86%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74.23%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74.24%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74.23%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0.8702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Experimental Results: Intra Unified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5657"/>
                <a:gridCol w="1175657"/>
                <a:gridCol w="1175657"/>
                <a:gridCol w="1175657"/>
                <a:gridCol w="1175657"/>
                <a:gridCol w="1175657"/>
                <a:gridCol w="1175658"/>
              </a:tblGrid>
              <a:tr h="2286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Base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Hyb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Prec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QWK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ConvNeXt-Tiny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79.50%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78.19%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75.65%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76.63%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0.9000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ResNet-50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78.34%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76.15%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74.32%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75.16%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0.8950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ViT-B-16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78.22%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75.22%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75.69%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75.41%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0.8939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EfficientNet-B4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76.73%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73.52%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73.51%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73.43%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0.8871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DenseNet-121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76.39%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75.12%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71.74%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73.22%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0.8751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Experimental Results: Intra LIMUC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5657"/>
                <a:gridCol w="1175657"/>
                <a:gridCol w="1175657"/>
                <a:gridCol w="1175657"/>
                <a:gridCol w="1175657"/>
                <a:gridCol w="1175657"/>
                <a:gridCol w="1175658"/>
              </a:tblGrid>
              <a:tr h="2286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Base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Hyb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Prec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QWK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EfficientNet-B4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74.43%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69.69%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57.87%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57.02%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57.22%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0.7070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ResNet-50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75.91%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74.67%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66.85%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65.68%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66.14%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0.8179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ViT-B-16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74.37%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68.62%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58.91%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58.72%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58.59%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0.7058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ConvNeXt-Tiny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76.86%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71.41%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61.15%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61.27%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61.09%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0.7353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DenseNet-121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75.74%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71.05%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62.51%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61.78%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62.08%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0.7182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Experimental Results: Intra NTUH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5657"/>
                <a:gridCol w="1175657"/>
                <a:gridCol w="1175657"/>
                <a:gridCol w="1175657"/>
                <a:gridCol w="1175657"/>
                <a:gridCol w="1175657"/>
                <a:gridCol w="1175658"/>
              </a:tblGrid>
              <a:tr h="2286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Base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Hyb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Prec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QWK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EfficientNet-B4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62.81%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64.32%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61.22%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61.98%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61.06%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0.7238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ResNet-50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67.83%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66.33%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62.26%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61.35%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60.55%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0.7421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ViT-B-16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65.82%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67.33%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64.19%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63.47%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63.11%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0.7424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ConvNeXt-Tiny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68.84%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66.33%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63.60%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64.35%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63.68%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0.7446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DenseNet-121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69.84%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68.34%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64.63%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65.35%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64.47%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0.7892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